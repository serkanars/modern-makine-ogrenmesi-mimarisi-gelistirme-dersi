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0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12192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Platypi Medium" panose="020B0604020202020204" charset="-94"/>
      <p:regular r:id="rId20"/>
    </p:embeddedFont>
    <p:embeddedFont>
      <p:font typeface="Source Serif 4" panose="020B0604020202020204" charset="0"/>
      <p:regular r:id="rId21"/>
    </p:embeddedFont>
    <p:embeddedFont>
      <p:font typeface="Source Serif 4 Bold" panose="020B0604020202020204" charset="0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928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hyperlink" Target="https://github.com/canacar" TargetMode="External"/><Relationship Id="rId4" Type="http://schemas.openxmlformats.org/officeDocument/2006/relationships/hyperlink" Target="https://linkedin.com/in/canaca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7.jpe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2500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Modern Makine Öğrenmesi Mimarisi Geliştirme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4305498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Notebook'tan production'a ML mimarisi geliştirmenin temel noktaları</a:t>
            </a:r>
            <a:endParaRPr lang="en-US" sz="1450" dirty="0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AE602384-84AB-D04F-F7C2-54783FF5D0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425" y="6134100"/>
            <a:ext cx="15525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276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Tanışalım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89509"/>
            <a:ext cx="4070744" cy="40708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1765895"/>
            <a:ext cx="6336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tr-TR" sz="2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Serkan Arslan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199726" y="2427387"/>
            <a:ext cx="694632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Kıdemli Veri Bilimcisi &amp; Eğitmen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199726" y="2918817"/>
            <a:ext cx="6336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Çalışma Geçmişi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199726" y="3403104"/>
            <a:ext cx="6336745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Büyük ölçekli veri projelerinde 8+ yıl deneyim.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Makine öğrenimi modellerinin üretim ortamına alınmasında uzman.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Çeşitli sektörlerde veri odaklı çözümler geliştirme.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199726" y="4933950"/>
            <a:ext cx="6336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Beni Takip Edin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199726" y="5418237"/>
            <a:ext cx="6336745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r>
              <a:rPr lang="tr-TR" sz="1450" b="1" u="sng" dirty="0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 – Serkan Arslan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u="sng" dirty="0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tr-TR" sz="1450" b="1" u="sng" dirty="0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 – </a:t>
            </a:r>
            <a:r>
              <a:rPr lang="tr-TR" sz="1450" b="1" u="sng" dirty="0" err="1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serkanars</a:t>
            </a:r>
            <a:endParaRPr lang="tr-TR" sz="1450" b="1" u="sng" dirty="0">
              <a:solidFill>
                <a:srgbClr val="3E2513"/>
              </a:solidFill>
              <a:latin typeface="Source Serif 4 Bold" pitchFamily="34" charset="0"/>
              <a:ea typeface="Source Serif 4 Bold" pitchFamily="34" charset="-122"/>
              <a:cs typeface="Source Serif 4 Bold" pitchFamily="34" charset="-12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tr-TR" sz="1450" b="1" u="sng" dirty="0" err="1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</a:rPr>
              <a:t>Medium</a:t>
            </a:r>
            <a:r>
              <a:rPr lang="tr-TR" sz="1450" b="1" u="sng" dirty="0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</a:rPr>
              <a:t> - </a:t>
            </a:r>
            <a:r>
              <a:rPr lang="tr-TR" sz="1450" b="1" u="sng" dirty="0" err="1">
                <a:solidFill>
                  <a:srgbClr val="3E2513"/>
                </a:solidFill>
                <a:latin typeface="Source Serif 4 Bold" pitchFamily="34" charset="0"/>
                <a:ea typeface="Source Serif 4 Bold" pitchFamily="34" charset="-122"/>
              </a:rPr>
              <a:t>serkanars</a:t>
            </a:r>
            <a:endParaRPr lang="en-US" sz="1450" dirty="0"/>
          </a:p>
        </p:txBody>
      </p:sp>
      <p:pic>
        <p:nvPicPr>
          <p:cNvPr id="11" name="Resim 10">
            <a:extLst>
              <a:ext uri="{FF2B5EF4-FFF2-40B4-BE49-F238E27FC236}">
                <a16:creationId xmlns:a16="http://schemas.microsoft.com/office/drawing/2014/main" id="{2D8AF963-4858-F6B8-7137-5EE2ECC659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1789509"/>
            <a:ext cx="4070846" cy="4070846"/>
          </a:xfrm>
          <a:prstGeom prst="rect">
            <a:avLst/>
          </a:prstGeom>
        </p:spPr>
      </p:pic>
      <p:pic>
        <p:nvPicPr>
          <p:cNvPr id="12" name="Resim 11">
            <a:extLst>
              <a:ext uri="{FF2B5EF4-FFF2-40B4-BE49-F238E27FC236}">
                <a16:creationId xmlns:a16="http://schemas.microsoft.com/office/drawing/2014/main" id="{AAE06D19-04AF-6397-A28B-34BADF4D09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39425" y="6134100"/>
            <a:ext cx="15525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Derse Genel Bakış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06365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Dersin Kapsamı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299065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Notebook'tan production'a geçiş, SDLC ve ML döngüsü — veri bilimi deneyiminizi gerçek dünya standartlarına taşıyoruz.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784501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Haftalık Plan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155380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Kaynaklar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633201" y="4639667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Chip Huyen (</a:t>
            </a:r>
            <a:r>
              <a:rPr lang="en-US" sz="14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Designing Machine Learning Systems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),</a:t>
            </a:r>
            <a:endParaRPr lang="tr-TR" sz="1450" dirty="0">
              <a:solidFill>
                <a:srgbClr val="504C49"/>
              </a:solidFill>
              <a:latin typeface="Source Serif 4" pitchFamily="34" charset="0"/>
              <a:ea typeface="Source Serif 4" pitchFamily="34" charset="-122"/>
              <a:cs typeface="Source Serif 4" pitchFamily="34" charset="-12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Ben Wilson (</a:t>
            </a:r>
            <a:r>
              <a:rPr lang="en-US" sz="14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Machine Learning Engineering in Action</a:t>
            </a:r>
            <a:endParaRPr lang="en-US" sz="1450" dirty="0"/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7D724535-F39B-52C8-5796-354DD71698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425" y="6134100"/>
            <a:ext cx="15525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4212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Haftalık Ders Planı: Detaylı Yol Haritası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653183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Aşama 1: Temel Geliştirme (1-4 Haftalar)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2096195"/>
            <a:ext cx="5218280" cy="4019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1 (Giriş ve ML Yaşam Döngüsü):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SDLC vs MLOps, Agile Veri Bilimi, Notebook'tan Production'a geçiş, modüler .py ve cookiecutter proje mimarisi kurulumu.          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2 (Veri Mühendisliği ve Feature Store):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ETL/ELT süreçleri, Feature Store (Online/Offline) ve Train-Serve Skew engelleme.          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3 (İleri Seviye Algoritmalar - I):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Gradient Boosting (XGBoost vs. LightGBM), Sınıf Dengesizliği, Zaman Serisi Bölmesi (Time-Series Split) ve Optuna ile Bayesian Hiper-parametre Optimizasyonu.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4 (İleri Seviye Algoritmalar - II):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Yüksek kardinaliteli kategorik veriler, CatBoost (Ordered Boosting), Stacking ve Blending ensemble mimarileri kodlama.           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18290" y="1653183"/>
            <a:ext cx="5218280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Aşama 2: MLOps, Deployment ve Operasyon (5-15 Haftalar Taslağı)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318290" y="2373114"/>
            <a:ext cx="5218280" cy="3602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5: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Mimari Tasarım (Batch vs. Real-time)          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6: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Deney Takibi ve MLflow          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7: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Sınıflandırma/Regresyon İleri Konular          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8: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VİZE          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5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9: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Model Değerlendirme ve ROI          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6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10: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Orchestration (Airflow/Prefect)          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7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11: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FastAPI ve Docker ile Deployment          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8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12: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Model Drift ve Monitoring (PSI/K-S)          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9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13: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LLM, RAG ve Autoresearch (AI Agents)          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10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14: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Proje Sunumları ve Code Review           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Font typeface="+mj-lt"/>
              <a:buAutoNum type="arabicPeriod" startAt="11"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            </a:t>
            </a:r>
            <a:r>
              <a:rPr lang="en-US" sz="13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Hafta 15:</a:t>
            </a: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FİNAL           </a:t>
            </a:r>
            <a:endParaRPr lang="en-US" sz="135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3930611E-10F8-96A2-7BEF-8ABA2162A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425" y="6134100"/>
            <a:ext cx="15525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067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9943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Dersin Kapsamı ve Kazanımlar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333155"/>
            <a:ext cx="10868745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 ders, veri bilimi projelerinizi bir Jupyter Notebook'tan alıp gerçek dünya üretim ortamlarına taşımanız için gerekli bilgi ve becerileri sunar. Sektör standartlarında profesyonel geliştirme pratikleri kazanacaksınız.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3991967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485" y="4053929"/>
            <a:ext cx="248041" cy="248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8193" y="4048820"/>
            <a:ext cx="29856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Profesyonel Kodlama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178193" y="4394101"/>
            <a:ext cx="298561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Modüler, test edilebilir ve sürdürülebilir veri bilimi projeleri </a:t>
            </a:r>
            <a:r>
              <a:rPr lang="en-US" sz="130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oluşturmayı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130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öğren</a:t>
            </a:r>
            <a:r>
              <a:rPr lang="tr-TR" sz="130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eceğiz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344680" y="3991967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06691" y="4053929"/>
            <a:ext cx="248041" cy="2480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861399" y="4048820"/>
            <a:ext cx="29856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MLOps ve Otomasyon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4861399" y="4394101"/>
            <a:ext cx="298561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Makine öğrenimi yaşam döngüsünü optimize eden MLOps araçlarına ve süreçlerine hakim </a:t>
            </a:r>
            <a:r>
              <a:rPr lang="en-US" sz="130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ol</a:t>
            </a:r>
            <a:r>
              <a:rPr lang="tr-TR" sz="130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unacak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027886" y="3991967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89896" y="4053929"/>
            <a:ext cx="248041" cy="24804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44604" y="4048820"/>
            <a:ext cx="29856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İleri ML Teknikleri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8544604" y="4394101"/>
            <a:ext cx="2985616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Karmaşık veri problemleri için gelişmiş algoritmaları ve optimizasyon </a:t>
            </a:r>
            <a:r>
              <a:rPr lang="en-US" sz="130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yöntemlerini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130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uygu</a:t>
            </a:r>
            <a:r>
              <a:rPr lang="tr-TR" sz="130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lacağız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61475" y="5675709"/>
            <a:ext cx="372061" cy="372070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3485" y="5737671"/>
            <a:ext cx="248041" cy="2480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78193" y="5732562"/>
            <a:ext cx="103520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Modern AI Uygulamaları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1178193" y="6077843"/>
            <a:ext cx="10352027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LLM'ler ve RAG gibi en yeni yapay zeka yaklaşımlarını projelere </a:t>
            </a:r>
            <a:r>
              <a:rPr lang="en-US" sz="130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entegre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ed</a:t>
            </a:r>
            <a:r>
              <a:rPr lang="tr-TR" sz="1300" dirty="0" err="1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eceğiz</a:t>
            </a: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</a:t>
            </a:r>
            <a:endParaRPr lang="en-US" sz="1300" dirty="0"/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07E5D55C-C717-0E05-2265-46410B0A6F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9425" y="6134100"/>
            <a:ext cx="15525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762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Github Reposu &amp; Dersin Hedefleri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075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Repository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228652"/>
            <a:ext cx="2507394" cy="24252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443063"/>
            <a:ext cx="197698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>
              <a:lnSpc>
                <a:spcPct val="104000"/>
              </a:lnSpc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github.com/</a:t>
            </a:r>
            <a:r>
              <a:rPr lang="en-US" sz="1850" dirty="0" err="1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serkanars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/modern-</a:t>
            </a:r>
            <a:r>
              <a:rPr lang="en-US" sz="1850" dirty="0" err="1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makine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-</a:t>
            </a:r>
            <a:r>
              <a:rPr lang="en-US" sz="1850" dirty="0" err="1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ogrenmesi-mimarisi-gelistirme-dersi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517900"/>
            <a:ext cx="197698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Tüm kodlar, örnekler ve haftalık branch'ler burada.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7875" y="2228652"/>
            <a:ext cx="2507394" cy="24252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673879" y="2443063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Her Hafta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3673879" y="2927350"/>
            <a:ext cx="1976983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Yeni branch'ler ve örnek projeler eklenecek. Fork edip kendi çalışmalarınızı yapın.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332776" y="172075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Dersin Sonunda Nereye Varacaksınız?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6332776" y="2228652"/>
            <a:ext cx="2507394" cy="2083891"/>
          </a:xfrm>
          <a:prstGeom prst="roundRect">
            <a:avLst>
              <a:gd name="adj" fmla="val 1361"/>
            </a:avLst>
          </a:prstGeom>
          <a:solidFill>
            <a:srgbClr val="F9F7F7"/>
          </a:solidFill>
          <a:ln/>
        </p:spPr>
      </p:sp>
      <p:sp>
        <p:nvSpPr>
          <p:cNvPr id="12" name="Text 8"/>
          <p:cNvSpPr/>
          <p:nvPr/>
        </p:nvSpPr>
        <p:spPr>
          <a:xfrm>
            <a:off x="6521783" y="2417663"/>
            <a:ext cx="21293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🚀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Production-Ready ML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521783" y="3216275"/>
            <a:ext cx="21293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Gerçek ortama alınabilir ML projeleri yazabilme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9029176" y="2228652"/>
            <a:ext cx="2507394" cy="2083891"/>
          </a:xfrm>
          <a:prstGeom prst="roundRect">
            <a:avLst>
              <a:gd name="adj" fmla="val 1361"/>
            </a:avLst>
          </a:prstGeom>
          <a:solidFill>
            <a:srgbClr val="F9F7F7"/>
          </a:solidFill>
          <a:ln/>
        </p:spPr>
      </p:sp>
      <p:sp>
        <p:nvSpPr>
          <p:cNvPr id="15" name="Text 11"/>
          <p:cNvSpPr/>
          <p:nvPr/>
        </p:nvSpPr>
        <p:spPr>
          <a:xfrm>
            <a:off x="9218183" y="2417663"/>
            <a:ext cx="21293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🤝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Collaboration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9218183" y="2921000"/>
            <a:ext cx="212938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Kod kalitesi, reproducibility ve ekip çalışması standartları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332776" y="4501555"/>
            <a:ext cx="5203794" cy="1486198"/>
          </a:xfrm>
          <a:prstGeom prst="roundRect">
            <a:avLst>
              <a:gd name="adj" fmla="val 1908"/>
            </a:avLst>
          </a:prstGeom>
          <a:solidFill>
            <a:srgbClr val="F9F7F7"/>
          </a:solidFill>
          <a:ln/>
        </p:spPr>
      </p:sp>
      <p:sp>
        <p:nvSpPr>
          <p:cNvPr id="18" name="Text 14"/>
          <p:cNvSpPr/>
          <p:nvPr/>
        </p:nvSpPr>
        <p:spPr>
          <a:xfrm>
            <a:off x="6521783" y="4690566"/>
            <a:ext cx="4825780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🛠️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Araçlar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6521783" y="5193903"/>
            <a:ext cx="482578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Gerçek dünya projelerinde kullanılan araçları etkin kullanma</a:t>
            </a:r>
            <a:endParaRPr lang="en-US" sz="1450" dirty="0"/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A473C9D1-6553-D516-D47A-011F78EBF9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425" y="6134100"/>
            <a:ext cx="15525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9F7F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2508151"/>
            <a:ext cx="887787" cy="287139"/>
          </a:xfrm>
          <a:prstGeom prst="roundRect">
            <a:avLst>
              <a:gd name="adj" fmla="val 7899"/>
            </a:avLst>
          </a:prstGeom>
          <a:solidFill>
            <a:srgbClr val="F3E3D8"/>
          </a:solidFill>
          <a:ln/>
        </p:spPr>
      </p:sp>
      <p:sp>
        <p:nvSpPr>
          <p:cNvPr id="5" name="Text 2"/>
          <p:cNvSpPr/>
          <p:nvPr/>
        </p:nvSpPr>
        <p:spPr>
          <a:xfrm>
            <a:off x="774879" y="2564805"/>
            <a:ext cx="127056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BÖLÜM 1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2870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Giriş: Notebook'tan Ötesi</a:t>
            </a:r>
            <a:endParaRPr lang="en-US" sz="3700" dirty="0"/>
          </a:p>
        </p:txBody>
      </p:sp>
      <p:sp>
        <p:nvSpPr>
          <p:cNvPr id="7" name="Text 4"/>
          <p:cNvSpPr/>
          <p:nvPr/>
        </p:nvSpPr>
        <p:spPr>
          <a:xfrm>
            <a:off x="661475" y="374501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Jupyter notebook ile başladığınız her şey — ama production orada bitmez.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288"/>
            <a:ext cx="10868745" cy="350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Notebook: Güçlü Yanları ve Sınırlamaları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61475" y="1044277"/>
            <a:ext cx="1147833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Jupyter Notebook'lar, veri bilimcilerin hızlı keşif, prototipleme ve veri analizi yapmaları için vazgeçilmez araçlardır. Ancak, üretim ortamına geçerken karşılaşılan zorlukları anlamak kritik öneme sahiptir.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1328837"/>
            <a:ext cx="5297454" cy="18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💡</a:t>
            </a: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Güçlü Yanları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775" y="1579066"/>
            <a:ext cx="5310154" cy="4103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9088" y="1591766"/>
            <a:ext cx="515984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İnteraktif Keşif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9088" y="1833662"/>
            <a:ext cx="5159841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Hücre bazlı çalıştırma ile anlık geri bildirim ve hızlı iterasyon.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775" y="2097286"/>
            <a:ext cx="5310154" cy="4103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99088" y="2109986"/>
            <a:ext cx="515984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Veri Görselleştirme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99088" y="2351881"/>
            <a:ext cx="5159841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Kod, çıktı ve grafikleri aynı ortamda sunarak analizleri daha anlaşılır kılar.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775" y="2615505"/>
            <a:ext cx="5310154" cy="4103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9088" y="2628205"/>
            <a:ext cx="515984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Hikaye Anlatımı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799088" y="2870101"/>
            <a:ext cx="5159841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Analiz adımlarını belgeleyerek süreçleri başkalarıyla paylaşmayı kolaylaştırır.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239116" y="1328837"/>
            <a:ext cx="5297454" cy="18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🚧</a:t>
            </a: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Sınırlamaları (Production İçin)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6416" y="1579066"/>
            <a:ext cx="5310154" cy="41036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76729" y="1591766"/>
            <a:ext cx="515984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Global Durum Karmaşası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6376729" y="1833662"/>
            <a:ext cx="5159841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Hücrelerin sırasız çalıştırılması, beklenmedik sonuçlara yol açabilir.</a:t>
            </a:r>
            <a:endParaRPr lang="en-US" sz="8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6416" y="2097286"/>
            <a:ext cx="5310154" cy="41036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76729" y="2109986"/>
            <a:ext cx="515984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Test Edilebilirlik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376729" y="2351881"/>
            <a:ext cx="5159841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Modüler yapı eksikliği, birim testleri yazmayı ve otomasyonu zorlaştırır.</a:t>
            </a:r>
            <a:endParaRPr lang="en-US" sz="8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6416" y="2615505"/>
            <a:ext cx="5310154" cy="41036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376729" y="2628205"/>
            <a:ext cx="5159841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Versiyon Kontrolü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6376729" y="2870101"/>
            <a:ext cx="5159841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IPYNB dosyalarının diff'i zordur, ekip çalışmasında çakışmalar yaratır.</a:t>
            </a:r>
            <a:endParaRPr lang="en-US" sz="850" dirty="0"/>
          </a:p>
        </p:txBody>
      </p:sp>
      <p:sp>
        <p:nvSpPr>
          <p:cNvPr id="24" name="Text 16"/>
          <p:cNvSpPr/>
          <p:nvPr/>
        </p:nvSpPr>
        <p:spPr>
          <a:xfrm>
            <a:off x="661475" y="3162995"/>
            <a:ext cx="11478330" cy="143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Aşağıdaki basit Python örneği, notebook ortamında global durum yönetiminin nasıl sorunlara yol açabileceğini göstermektedir:</a:t>
            </a:r>
            <a:endParaRPr lang="en-US" sz="850" dirty="0"/>
          </a:p>
        </p:txBody>
      </p:sp>
      <p:sp>
        <p:nvSpPr>
          <p:cNvPr id="25" name="Shape 17"/>
          <p:cNvSpPr/>
          <p:nvPr/>
        </p:nvSpPr>
        <p:spPr>
          <a:xfrm>
            <a:off x="661475" y="3380978"/>
            <a:ext cx="10868745" cy="2916734"/>
          </a:xfrm>
          <a:prstGeom prst="roundRect">
            <a:avLst>
              <a:gd name="adj" fmla="val 577"/>
            </a:avLst>
          </a:prstGeom>
          <a:solidFill>
            <a:srgbClr val="F2F2F2"/>
          </a:solidFill>
          <a:ln/>
        </p:spPr>
      </p:sp>
      <p:sp>
        <p:nvSpPr>
          <p:cNvPr id="26" name="Text 18"/>
          <p:cNvSpPr/>
          <p:nvPr/>
        </p:nvSpPr>
        <p:spPr>
          <a:xfrm>
            <a:off x="796111" y="3493195"/>
            <a:ext cx="10599472" cy="269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Notebook ortamında hızlı deneme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[10, 20, 30, 40]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process_data():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global data # Global değişkene bağımlılık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[x * 2 for x in data]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data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result1 = process_data()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print(f"İlk işlem: {result1}") # Çıktı: [20, 40, 60, 80]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Hücreyi tekrar çalıştırmak beklenmedik bir durum yaratabilir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result2 = process_data()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print(f"İkinci işlem (beklenmedik): {result2}") # Çıktı: [40, 80, 120, 160] - 'data' globalde değiştiği için</a:t>
            </a:r>
            <a:endParaRPr lang="en-US" sz="8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850" dirty="0"/>
          </a:p>
        </p:txBody>
      </p:sp>
      <p:pic>
        <p:nvPicPr>
          <p:cNvPr id="28" name="Resim 27">
            <a:extLst>
              <a:ext uri="{FF2B5EF4-FFF2-40B4-BE49-F238E27FC236}">
                <a16:creationId xmlns:a16="http://schemas.microsoft.com/office/drawing/2014/main" id="{8973FADD-833A-E29A-6CDE-5F1715A70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425" y="6134100"/>
            <a:ext cx="15525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623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Notebook: Güçlü Yanları ve Sınırlamaları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1792982"/>
            <a:ext cx="6903269" cy="2894112"/>
          </a:xfrm>
          <a:prstGeom prst="roundRect">
            <a:avLst>
              <a:gd name="adj" fmla="val 980"/>
            </a:avLst>
          </a:prstGeom>
          <a:solidFill>
            <a:srgbClr val="F9F7F7"/>
          </a:solidFill>
          <a:ln/>
        </p:spPr>
      </p:sp>
      <p:sp>
        <p:nvSpPr>
          <p:cNvPr id="5" name="Shape 2"/>
          <p:cNvSpPr/>
          <p:nvPr/>
        </p:nvSpPr>
        <p:spPr>
          <a:xfrm>
            <a:off x="4633201" y="1792982"/>
            <a:ext cx="3451635" cy="2894112"/>
          </a:xfrm>
          <a:custGeom>
            <a:avLst/>
            <a:gdLst/>
            <a:ahLst/>
            <a:cxnLst/>
            <a:rect l="l" t="t" r="r" b="b"/>
            <a:pathLst>
              <a:path w="3451635" h="2894112">
                <a:moveTo>
                  <a:pt x="23627" y="0"/>
                </a:moveTo>
                <a:lnTo>
                  <a:pt x="3451635" y="0"/>
                </a:lnTo>
                <a:lnTo>
                  <a:pt x="3451635" y="2894112"/>
                </a:lnTo>
                <a:lnTo>
                  <a:pt x="23627" y="2894112"/>
                </a:lnTo>
                <a:arcTo wR="23627" hR="23628" stAng="5400000" swAng="5400000"/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6" name="Text 3"/>
          <p:cNvSpPr/>
          <p:nvPr/>
        </p:nvSpPr>
        <p:spPr>
          <a:xfrm>
            <a:off x="4822208" y="1981994"/>
            <a:ext cx="307362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Güçlü Yanlar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822208" y="2485330"/>
            <a:ext cx="3073621" cy="1341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Hızlı prototipleme ve keşifsel analiz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İnteraktif görselleştirme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Kolay paylaşım ve sunum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084836" y="1792982"/>
            <a:ext cx="3451635" cy="2894112"/>
          </a:xfrm>
          <a:custGeom>
            <a:avLst/>
            <a:gdLst/>
            <a:ahLst/>
            <a:cxnLst/>
            <a:rect l="l" t="t" r="r" b="b"/>
            <a:pathLst>
              <a:path w="3451635" h="2894112">
                <a:moveTo>
                  <a:pt x="0" y="0"/>
                </a:moveTo>
                <a:lnTo>
                  <a:pt x="3428007" y="0"/>
                </a:lnTo>
                <a:arcTo wR="23627" hR="23628" stAng="16200000" swAng="5400000"/>
                <a:lnTo>
                  <a:pt x="3451635" y="2870484"/>
                </a:lnTo>
                <a:arcTo wR="23627" hR="23628" stAng="0" swAng="5400000"/>
                <a:lnTo>
                  <a:pt x="0" y="2894112"/>
                </a:lnTo>
                <a:lnTo>
                  <a:pt x="0" y="0"/>
                </a:lnTo>
                <a:close/>
              </a:path>
            </a:pathLst>
          </a:custGeom>
          <a:solidFill>
            <a:srgbClr val="F9F7F7"/>
          </a:solidFill>
          <a:ln/>
        </p:spPr>
      </p:sp>
      <p:sp>
        <p:nvSpPr>
          <p:cNvPr id="9" name="Shape 6"/>
          <p:cNvSpPr/>
          <p:nvPr/>
        </p:nvSpPr>
        <p:spPr>
          <a:xfrm>
            <a:off x="8084836" y="1792982"/>
            <a:ext cx="25399" cy="2894112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0" name="Text 7"/>
          <p:cNvSpPr/>
          <p:nvPr/>
        </p:nvSpPr>
        <p:spPr>
          <a:xfrm>
            <a:off x="8273843" y="1981994"/>
            <a:ext cx="307362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Sınırlamalar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273843" y="2485330"/>
            <a:ext cx="3073621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Versiyon kontrolü çok zor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Reproducibility sorunları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Production'a doğrudan uygun değil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Collaboration neredeyse imkansız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633201" y="4899720"/>
            <a:ext cx="6903269" cy="1039416"/>
          </a:xfrm>
          <a:prstGeom prst="roundRect">
            <a:avLst>
              <a:gd name="adj" fmla="val 2728"/>
            </a:avLst>
          </a:prstGeom>
          <a:solidFill>
            <a:srgbClr val="FCF2B5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5186462"/>
            <a:ext cx="236234" cy="1890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47449" y="5117009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Hücre sırası karışıklığı → Aynı kod, farklı çalıştırma sırasında farklı sonuçlar verebilir.</a:t>
            </a:r>
            <a:endParaRPr lang="en-US" sz="1450"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5BEB8F6D-B4DF-38B9-9133-91B8D3579E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9425" y="6134100"/>
            <a:ext cx="15525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97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SDLC ve Standart ML Döngüsü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24122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Software Development Life Cycle — ML projelerinde de aynı disiplin gerekli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819970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809491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Monitoring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809491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Deployment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65664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 Geliştirme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65664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Veri Hazırlama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656647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Problem Tanımlama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98050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Her aşama bir sonrakini besler — monitoring yeni bir problem tanımlamasını tetikler ve döngü yeniden başlar.</a:t>
            </a:r>
            <a:endParaRPr lang="en-US" sz="1450" dirty="0"/>
          </a:p>
        </p:txBody>
      </p:sp>
      <p:pic>
        <p:nvPicPr>
          <p:cNvPr id="12" name="Resim 11">
            <a:extLst>
              <a:ext uri="{FF2B5EF4-FFF2-40B4-BE49-F238E27FC236}">
                <a16:creationId xmlns:a16="http://schemas.microsoft.com/office/drawing/2014/main" id="{47B2C496-7648-661E-F8AC-465D9FEE4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425" y="6134100"/>
            <a:ext cx="15525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3081"/>
            <a:ext cx="638159" cy="206276"/>
          </a:xfrm>
          <a:prstGeom prst="roundRect">
            <a:avLst>
              <a:gd name="adj" fmla="val 7903"/>
            </a:avLst>
          </a:prstGeom>
          <a:solidFill>
            <a:srgbClr val="F3E3D8"/>
          </a:solidFill>
          <a:ln/>
        </p:spPr>
      </p:sp>
      <p:sp>
        <p:nvSpPr>
          <p:cNvPr id="3" name="Text 1"/>
          <p:cNvSpPr/>
          <p:nvPr/>
        </p:nvSpPr>
        <p:spPr>
          <a:xfrm>
            <a:off x="742931" y="563761"/>
            <a:ext cx="1084831" cy="124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BÖLÜM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68350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Profesyonel Kod Yapısı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475" y="1436886"/>
            <a:ext cx="526868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Python Standart Dosya Yapısı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59049"/>
            <a:ext cx="5268681" cy="81508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0383" y="2064742"/>
            <a:ext cx="203691" cy="2036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1561" y="1913930"/>
            <a:ext cx="4453719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src/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321561" y="2223889"/>
            <a:ext cx="4453719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Ana kod dosyaları — data, models, utils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71763"/>
            <a:ext cx="5268681" cy="815082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0383" y="2977455"/>
            <a:ext cx="203691" cy="2036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21561" y="2826643"/>
            <a:ext cx="4453719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notebooks/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1321561" y="3136602"/>
            <a:ext cx="4453719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Keşifsel analiz ve deneyler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584476"/>
            <a:ext cx="5268681" cy="81508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383" y="3890169"/>
            <a:ext cx="203691" cy="20369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321561" y="3739356"/>
            <a:ext cx="4453719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tests/</a:t>
            </a:r>
            <a:endParaRPr lang="en-US" sz="1300" dirty="0"/>
          </a:p>
        </p:txBody>
      </p:sp>
      <p:sp>
        <p:nvSpPr>
          <p:cNvPr id="17" name="Text 9"/>
          <p:cNvSpPr/>
          <p:nvPr/>
        </p:nvSpPr>
        <p:spPr>
          <a:xfrm>
            <a:off x="1321561" y="4049316"/>
            <a:ext cx="4453719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Unit testler ve integration testler</a:t>
            </a:r>
            <a:endParaRPr lang="en-US" sz="10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497189"/>
            <a:ext cx="5268681" cy="815082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383" y="4802882"/>
            <a:ext cx="203691" cy="203696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321561" y="4652070"/>
            <a:ext cx="4453719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config/</a:t>
            </a:r>
            <a:endParaRPr lang="en-US" sz="1300" dirty="0"/>
          </a:p>
        </p:txBody>
      </p:sp>
      <p:sp>
        <p:nvSpPr>
          <p:cNvPr id="21" name="Text 11"/>
          <p:cNvSpPr/>
          <p:nvPr/>
        </p:nvSpPr>
        <p:spPr>
          <a:xfrm>
            <a:off x="1321561" y="4962029"/>
            <a:ext cx="4453719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Konfigürasyon dosyaları — YAML, JSON</a:t>
            </a:r>
            <a:endParaRPr lang="en-US" sz="10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409902"/>
            <a:ext cx="5268681" cy="815082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383" y="5715595"/>
            <a:ext cx="203691" cy="203696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321561" y="5564783"/>
            <a:ext cx="4453719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data/</a:t>
            </a:r>
            <a:endParaRPr lang="en-US" sz="1300" dirty="0"/>
          </a:p>
        </p:txBody>
      </p:sp>
      <p:sp>
        <p:nvSpPr>
          <p:cNvPr id="25" name="Text 13"/>
          <p:cNvSpPr/>
          <p:nvPr/>
        </p:nvSpPr>
        <p:spPr>
          <a:xfrm>
            <a:off x="1321561" y="5874742"/>
            <a:ext cx="4453719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Raw ve processed veriler</a:t>
            </a:r>
            <a:endParaRPr lang="en-US" sz="1050" dirty="0"/>
          </a:p>
        </p:txBody>
      </p:sp>
      <p:sp>
        <p:nvSpPr>
          <p:cNvPr id="26" name="Text 14"/>
          <p:cNvSpPr/>
          <p:nvPr/>
        </p:nvSpPr>
        <p:spPr>
          <a:xfrm>
            <a:off x="6267889" y="1436886"/>
            <a:ext cx="526868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Reproducibility</a:t>
            </a:r>
            <a:endParaRPr lang="en-US" sz="1300" dirty="0"/>
          </a:p>
        </p:txBody>
      </p:sp>
      <p:sp>
        <p:nvSpPr>
          <p:cNvPr id="27" name="Text 15"/>
          <p:cNvSpPr/>
          <p:nvPr/>
        </p:nvSpPr>
        <p:spPr>
          <a:xfrm>
            <a:off x="6267889" y="1746845"/>
            <a:ext cx="5878266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Tanım:</a:t>
            </a: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Aynı kod ve veri ile aynı sonuçları elde etme.</a:t>
            </a:r>
            <a:endParaRPr lang="en-US" sz="1050" dirty="0"/>
          </a:p>
        </p:txBody>
      </p:sp>
      <p:sp>
        <p:nvSpPr>
          <p:cNvPr id="28" name="Shape 16"/>
          <p:cNvSpPr/>
          <p:nvPr/>
        </p:nvSpPr>
        <p:spPr>
          <a:xfrm>
            <a:off x="6267889" y="2043410"/>
            <a:ext cx="305586" cy="305594"/>
          </a:xfrm>
          <a:prstGeom prst="roundRect">
            <a:avLst>
              <a:gd name="adj" fmla="val 6669"/>
            </a:avLst>
          </a:prstGeom>
          <a:solidFill>
            <a:srgbClr val="F9F7F7"/>
          </a:solidFill>
          <a:ln/>
        </p:spPr>
      </p:sp>
      <p:sp>
        <p:nvSpPr>
          <p:cNvPr id="29" name="Text 17"/>
          <p:cNvSpPr/>
          <p:nvPr/>
        </p:nvSpPr>
        <p:spPr>
          <a:xfrm>
            <a:off x="6671103" y="2090043"/>
            <a:ext cx="486546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Random Seed Sabitleme</a:t>
            </a:r>
            <a:endParaRPr lang="en-US" sz="1300" dirty="0"/>
          </a:p>
        </p:txBody>
      </p:sp>
      <p:sp>
        <p:nvSpPr>
          <p:cNvPr id="30" name="Text 18"/>
          <p:cNvSpPr/>
          <p:nvPr/>
        </p:nvSpPr>
        <p:spPr>
          <a:xfrm>
            <a:off x="6671103" y="2400002"/>
            <a:ext cx="4865467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numpy, sklearn, tensorflow — hepsinde seed set edin</a:t>
            </a:r>
            <a:endParaRPr lang="en-US" sz="1050" dirty="0"/>
          </a:p>
        </p:txBody>
      </p:sp>
      <p:sp>
        <p:nvSpPr>
          <p:cNvPr id="31" name="Shape 19"/>
          <p:cNvSpPr/>
          <p:nvPr/>
        </p:nvSpPr>
        <p:spPr>
          <a:xfrm>
            <a:off x="6267889" y="2781995"/>
            <a:ext cx="305586" cy="305594"/>
          </a:xfrm>
          <a:prstGeom prst="roundRect">
            <a:avLst>
              <a:gd name="adj" fmla="val 6669"/>
            </a:avLst>
          </a:prstGeom>
          <a:solidFill>
            <a:srgbClr val="F9F7F7"/>
          </a:solidFill>
          <a:ln/>
        </p:spPr>
      </p:sp>
      <p:sp>
        <p:nvSpPr>
          <p:cNvPr id="32" name="Text 20"/>
          <p:cNvSpPr/>
          <p:nvPr/>
        </p:nvSpPr>
        <p:spPr>
          <a:xfrm>
            <a:off x="6671103" y="2828627"/>
            <a:ext cx="486546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Dependency Yönetimi</a:t>
            </a:r>
            <a:endParaRPr lang="en-US" sz="1300" dirty="0"/>
          </a:p>
        </p:txBody>
      </p:sp>
      <p:sp>
        <p:nvSpPr>
          <p:cNvPr id="33" name="Text 21"/>
          <p:cNvSpPr/>
          <p:nvPr/>
        </p:nvSpPr>
        <p:spPr>
          <a:xfrm>
            <a:off x="6671103" y="3138587"/>
            <a:ext cx="4865467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veya </a:t>
            </a:r>
            <a:r>
              <a:rPr lang="en-US" sz="10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environment.yml</a:t>
            </a:r>
            <a:endParaRPr lang="en-US" sz="1050" dirty="0"/>
          </a:p>
        </p:txBody>
      </p:sp>
      <p:sp>
        <p:nvSpPr>
          <p:cNvPr id="34" name="Shape 22"/>
          <p:cNvSpPr/>
          <p:nvPr/>
        </p:nvSpPr>
        <p:spPr>
          <a:xfrm>
            <a:off x="6267889" y="3526929"/>
            <a:ext cx="305586" cy="305594"/>
          </a:xfrm>
          <a:prstGeom prst="roundRect">
            <a:avLst>
              <a:gd name="adj" fmla="val 6669"/>
            </a:avLst>
          </a:prstGeom>
          <a:solidFill>
            <a:srgbClr val="F9F7F7"/>
          </a:solidFill>
          <a:ln/>
        </p:spPr>
      </p:sp>
      <p:sp>
        <p:nvSpPr>
          <p:cNvPr id="35" name="Text 23"/>
          <p:cNvSpPr/>
          <p:nvPr/>
        </p:nvSpPr>
        <p:spPr>
          <a:xfrm>
            <a:off x="6671103" y="3573562"/>
            <a:ext cx="486546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Versioning</a:t>
            </a:r>
            <a:endParaRPr lang="en-US" sz="1300" dirty="0"/>
          </a:p>
        </p:txBody>
      </p:sp>
      <p:sp>
        <p:nvSpPr>
          <p:cNvPr id="36" name="Text 24"/>
          <p:cNvSpPr/>
          <p:nvPr/>
        </p:nvSpPr>
        <p:spPr>
          <a:xfrm>
            <a:off x="6671103" y="3883521"/>
            <a:ext cx="4865467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DVC veya Git LFS ile veri dosyalarını versiyonlayın</a:t>
            </a:r>
            <a:endParaRPr lang="en-US" sz="1050" dirty="0"/>
          </a:p>
        </p:txBody>
      </p:sp>
      <p:sp>
        <p:nvSpPr>
          <p:cNvPr id="37" name="Shape 25"/>
          <p:cNvSpPr/>
          <p:nvPr/>
        </p:nvSpPr>
        <p:spPr>
          <a:xfrm>
            <a:off x="6267889" y="4265513"/>
            <a:ext cx="305586" cy="305594"/>
          </a:xfrm>
          <a:prstGeom prst="roundRect">
            <a:avLst>
              <a:gd name="adj" fmla="val 6669"/>
            </a:avLst>
          </a:prstGeom>
          <a:solidFill>
            <a:srgbClr val="F9F7F7"/>
          </a:solidFill>
          <a:ln/>
        </p:spPr>
      </p:sp>
      <p:sp>
        <p:nvSpPr>
          <p:cNvPr id="38" name="Text 26"/>
          <p:cNvSpPr/>
          <p:nvPr/>
        </p:nvSpPr>
        <p:spPr>
          <a:xfrm>
            <a:off x="6671103" y="4312146"/>
            <a:ext cx="4865467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Config Dosyaları</a:t>
            </a:r>
            <a:endParaRPr lang="en-US" sz="1300" dirty="0"/>
          </a:p>
        </p:txBody>
      </p:sp>
      <p:sp>
        <p:nvSpPr>
          <p:cNvPr id="39" name="Text 27"/>
          <p:cNvSpPr/>
          <p:nvPr/>
        </p:nvSpPr>
        <p:spPr>
          <a:xfrm>
            <a:off x="6671103" y="4622105"/>
            <a:ext cx="4865467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Parametreleri kod içine gömmek yerine config'de tutun</a:t>
            </a:r>
            <a:endParaRPr lang="en-US" sz="1050" dirty="0"/>
          </a:p>
        </p:txBody>
      </p:sp>
      <p:pic>
        <p:nvPicPr>
          <p:cNvPr id="41" name="Resim 40">
            <a:extLst>
              <a:ext uri="{FF2B5EF4-FFF2-40B4-BE49-F238E27FC236}">
                <a16:creationId xmlns:a16="http://schemas.microsoft.com/office/drawing/2014/main" id="{78874673-3DE3-04F6-8383-97D38BA97A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39425" y="6134100"/>
            <a:ext cx="15525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7685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Versiyon Kontrolü ve Git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416844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Git / Github / Alternatifleri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767483"/>
            <a:ext cx="2573571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806132" y="1912144"/>
            <a:ext cx="22842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6132" y="2248892"/>
            <a:ext cx="228425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Dağıtık versiyon kontrol sistemi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45771" y="1767483"/>
            <a:ext cx="2573571" cy="1034852"/>
          </a:xfrm>
          <a:prstGeom prst="roundRect">
            <a:avLst>
              <a:gd name="adj" fmla="val 2098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3490428" y="1912144"/>
            <a:ext cx="22842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90428" y="2248892"/>
            <a:ext cx="2284256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Cloud-based hosting, açık kaynak ekosistemi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1475" y="2913063"/>
            <a:ext cx="2573571" cy="830461"/>
          </a:xfrm>
          <a:prstGeom prst="roundRect">
            <a:avLst>
              <a:gd name="adj" fmla="val 2614"/>
            </a:avLst>
          </a:prstGeom>
          <a:solidFill>
            <a:srgbClr val="F9F7F7"/>
          </a:solidFill>
          <a:ln/>
        </p:spPr>
      </p:sp>
      <p:sp>
        <p:nvSpPr>
          <p:cNvPr id="11" name="Text 9"/>
          <p:cNvSpPr/>
          <p:nvPr/>
        </p:nvSpPr>
        <p:spPr>
          <a:xfrm>
            <a:off x="806132" y="3057723"/>
            <a:ext cx="22842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Bitbucket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6132" y="3394472"/>
            <a:ext cx="228425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Kurumsal, Jira entegrasyonu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45771" y="2913063"/>
            <a:ext cx="2573571" cy="830461"/>
          </a:xfrm>
          <a:prstGeom prst="roundRect">
            <a:avLst>
              <a:gd name="adj" fmla="val 2614"/>
            </a:avLst>
          </a:prstGeom>
          <a:solidFill>
            <a:srgbClr val="F9F7F7"/>
          </a:solidFill>
          <a:ln/>
        </p:spPr>
      </p:sp>
      <p:sp>
        <p:nvSpPr>
          <p:cNvPr id="14" name="Text 12"/>
          <p:cNvSpPr/>
          <p:nvPr/>
        </p:nvSpPr>
        <p:spPr>
          <a:xfrm>
            <a:off x="3490428" y="3057723"/>
            <a:ext cx="228425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Gitlab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90428" y="3394472"/>
            <a:ext cx="228425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Self-hosted, CI/CD pipeline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78703" y="1416844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Git Workflow Temelleri</a:t>
            </a:r>
            <a:endParaRPr lang="en-US" sz="14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03" y="1767483"/>
            <a:ext cx="723584" cy="86826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113013" y="1912144"/>
            <a:ext cx="442355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Branch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113013" y="2248892"/>
            <a:ext cx="442355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Bağımsız geliştirme hatları — feature, bugfix, develop</a:t>
            </a:r>
            <a:endParaRPr lang="en-US" sz="110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03" y="2635746"/>
            <a:ext cx="723584" cy="868263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13013" y="2780407"/>
            <a:ext cx="442355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Commit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113013" y="3117155"/>
            <a:ext cx="442355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Anlamlı mesajlarla değişiklikleri kaydetme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03" y="3504009"/>
            <a:ext cx="723584" cy="868263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113013" y="3648670"/>
            <a:ext cx="442355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Pull Request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113013" y="3985419"/>
            <a:ext cx="442355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Kod review ve merge öncesi kontrol</a:t>
            </a:r>
            <a:endParaRPr lang="en-US" sz="11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703" y="4372273"/>
            <a:ext cx="723584" cy="868263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113013" y="4516934"/>
            <a:ext cx="442355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Merge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7113013" y="4853682"/>
            <a:ext cx="442355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Değişiklikleri ana branch'e entegre etme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278703" y="5365155"/>
            <a:ext cx="5257867" cy="680442"/>
          </a:xfrm>
          <a:prstGeom prst="roundRect">
            <a:avLst>
              <a:gd name="adj" fmla="val 3190"/>
            </a:avLst>
          </a:prstGeom>
          <a:solidFill>
            <a:srgbClr val="F3E3D8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3360" y="5537795"/>
            <a:ext cx="180871" cy="14466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748889" y="5500985"/>
            <a:ext cx="4643024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Profesyonel pratik:</a:t>
            </a:r>
            <a:r>
              <a:rPr lang="en-US" sz="11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"Fix bug" değil, "Fix NaN handling in feature_engineering.py" — atomic, anlamlı commit mesajları yazın.</a:t>
            </a:r>
            <a:endParaRPr lang="en-US" sz="1100" dirty="0"/>
          </a:p>
        </p:txBody>
      </p:sp>
      <p:pic>
        <p:nvPicPr>
          <p:cNvPr id="33" name="Resim 32">
            <a:extLst>
              <a:ext uri="{FF2B5EF4-FFF2-40B4-BE49-F238E27FC236}">
                <a16:creationId xmlns:a16="http://schemas.microsoft.com/office/drawing/2014/main" id="{C704B82C-2D9A-AB0C-2E48-369C3CA030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9425" y="6134100"/>
            <a:ext cx="1552575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659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Yol Haritası &amp; Başlayalım!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499890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Haftalık Plan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3264612" y="1942108"/>
            <a:ext cx="19050" cy="4164608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2586667" y="2125266"/>
            <a:ext cx="51384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6" name="Shape 4"/>
          <p:cNvSpPr/>
          <p:nvPr/>
        </p:nvSpPr>
        <p:spPr>
          <a:xfrm>
            <a:off x="3081459" y="1942108"/>
            <a:ext cx="385356" cy="385366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3145701" y="1974205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1475" y="2000945"/>
            <a:ext cx="175622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Hafta 1–2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61475" y="2423716"/>
            <a:ext cx="1756227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Temel kavramlar, Git/Github setup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47765" y="3120926"/>
            <a:ext cx="51384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1" name="Shape 9"/>
          <p:cNvSpPr/>
          <p:nvPr/>
        </p:nvSpPr>
        <p:spPr>
          <a:xfrm>
            <a:off x="3081459" y="2937768"/>
            <a:ext cx="385356" cy="385366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3145701" y="2969865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30572" y="2996605"/>
            <a:ext cx="175632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Hafta 3–4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130572" y="3419376"/>
            <a:ext cx="1756326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Activation Giveup veri analizi ve hazırlama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86667" y="3990777"/>
            <a:ext cx="51384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6" name="Shape 14"/>
          <p:cNvSpPr/>
          <p:nvPr/>
        </p:nvSpPr>
        <p:spPr>
          <a:xfrm>
            <a:off x="3081459" y="3807619"/>
            <a:ext cx="385356" cy="385366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17" name="Text 15"/>
          <p:cNvSpPr/>
          <p:nvPr/>
        </p:nvSpPr>
        <p:spPr>
          <a:xfrm>
            <a:off x="3145701" y="3839716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61475" y="3866455"/>
            <a:ext cx="175622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Hafta 5–6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1475" y="4289227"/>
            <a:ext cx="1756227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Model geliştirme ve experimentation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47765" y="4860627"/>
            <a:ext cx="513841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3081459" y="4677470"/>
            <a:ext cx="385356" cy="385366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</p:sp>
      <p:sp>
        <p:nvSpPr>
          <p:cNvPr id="22" name="Text 20"/>
          <p:cNvSpPr/>
          <p:nvPr/>
        </p:nvSpPr>
        <p:spPr>
          <a:xfrm>
            <a:off x="3145701" y="4709567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130572" y="4736306"/>
            <a:ext cx="1756326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Hafta 7–8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4130572" y="5159077"/>
            <a:ext cx="1756326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Deployment, monitoring, best practices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87821" y="1344712"/>
            <a:ext cx="5472075" cy="4936629"/>
          </a:xfrm>
          <a:prstGeom prst="roundRect">
            <a:avLst>
              <a:gd name="adj" fmla="val 520"/>
            </a:avLst>
          </a:prstGeom>
          <a:solidFill>
            <a:srgbClr val="3E2513"/>
          </a:solidFill>
          <a:ln/>
        </p:spPr>
      </p:sp>
      <p:sp>
        <p:nvSpPr>
          <p:cNvPr id="26" name="Text 24"/>
          <p:cNvSpPr/>
          <p:nvPr/>
        </p:nvSpPr>
        <p:spPr>
          <a:xfrm>
            <a:off x="6359068" y="1499890"/>
            <a:ext cx="5129580" cy="292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Bugün Yapılacaklar </a:t>
            </a:r>
            <a:r>
              <a:rPr lang="en-US" sz="16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🚀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6359068" y="1967508"/>
            <a:ext cx="385356" cy="385366"/>
          </a:xfrm>
          <a:prstGeom prst="roundRect">
            <a:avLst>
              <a:gd name="adj" fmla="val 6668"/>
            </a:avLst>
          </a:prstGeom>
          <a:solidFill>
            <a:srgbClr val="988A81"/>
          </a:solidFill>
          <a:ln/>
        </p:spPr>
      </p:sp>
      <p:sp>
        <p:nvSpPr>
          <p:cNvPr id="28" name="Text 26"/>
          <p:cNvSpPr/>
          <p:nvPr/>
        </p:nvSpPr>
        <p:spPr>
          <a:xfrm>
            <a:off x="6423311" y="1999605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899598" y="2026345"/>
            <a:ext cx="458905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Fork edin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899598" y="2449116"/>
            <a:ext cx="458905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Github reposunu kendi hesabınıza fork edin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9068" y="3020814"/>
            <a:ext cx="385356" cy="385366"/>
          </a:xfrm>
          <a:prstGeom prst="roundRect">
            <a:avLst>
              <a:gd name="adj" fmla="val 6668"/>
            </a:avLst>
          </a:prstGeom>
          <a:solidFill>
            <a:srgbClr val="988A81"/>
          </a:solidFill>
          <a:ln/>
        </p:spPr>
      </p:sp>
      <p:sp>
        <p:nvSpPr>
          <p:cNvPr id="32" name="Text 30"/>
          <p:cNvSpPr/>
          <p:nvPr/>
        </p:nvSpPr>
        <p:spPr>
          <a:xfrm>
            <a:off x="6423311" y="3052911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899598" y="3079651"/>
            <a:ext cx="458905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Setup yapın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899598" y="3502422"/>
            <a:ext cx="458905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Local ortamı </a:t>
            </a:r>
            <a:r>
              <a:rPr lang="en-US" sz="1300" dirty="0">
                <a:solidFill>
                  <a:srgbClr val="FFFFFF"/>
                </a:solidFill>
                <a:highlight>
                  <a:srgbClr val="4B322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r>
              <a:rPr lang="en-US" sz="13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ile kurun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59068" y="4080470"/>
            <a:ext cx="385356" cy="385366"/>
          </a:xfrm>
          <a:prstGeom prst="roundRect">
            <a:avLst>
              <a:gd name="adj" fmla="val 6668"/>
            </a:avLst>
          </a:prstGeom>
          <a:solidFill>
            <a:srgbClr val="988A81"/>
          </a:solidFill>
          <a:ln/>
        </p:spPr>
      </p:sp>
      <p:sp>
        <p:nvSpPr>
          <p:cNvPr id="36" name="Text 34"/>
          <p:cNvSpPr/>
          <p:nvPr/>
        </p:nvSpPr>
        <p:spPr>
          <a:xfrm>
            <a:off x="6423311" y="4112568"/>
            <a:ext cx="256871" cy="3211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899598" y="4139307"/>
            <a:ext cx="4589050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Keşfedin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899598" y="4562078"/>
            <a:ext cx="4589050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İlk notebook'u açın ve veriye bakın</a:t>
            </a:r>
            <a:endParaRPr lang="en-US" sz="1300" dirty="0"/>
          </a:p>
        </p:txBody>
      </p:sp>
      <p:pic>
        <p:nvPicPr>
          <p:cNvPr id="40" name="Resim 39">
            <a:extLst>
              <a:ext uri="{FF2B5EF4-FFF2-40B4-BE49-F238E27FC236}">
                <a16:creationId xmlns:a16="http://schemas.microsoft.com/office/drawing/2014/main" id="{316112BE-A255-C5C5-EC24-00617873A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9425" y="6281340"/>
            <a:ext cx="1552575" cy="576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E2513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5009</TotalTime>
  <Words>1157</Words>
  <Application>Microsoft Office PowerPoint</Application>
  <PresentationFormat>Geniş ekran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13</vt:i4>
      </vt:variant>
    </vt:vector>
  </HeadingPairs>
  <TitlesOfParts>
    <vt:vector size="20" baseType="lpstr">
      <vt:lpstr>Source Serif 4 Bold</vt:lpstr>
      <vt:lpstr>Source Serif 4</vt:lpstr>
      <vt:lpstr>Arial</vt:lpstr>
      <vt:lpstr>Noto Color Emoji</vt:lpstr>
      <vt:lpstr>Consolas</vt:lpstr>
      <vt:lpstr>Platypi Medium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Serkan Arslan</cp:lastModifiedBy>
  <cp:revision>3</cp:revision>
  <dcterms:created xsi:type="dcterms:W3CDTF">2026-09-24T16:48:26Z</dcterms:created>
  <dcterms:modified xsi:type="dcterms:W3CDTF">2026-10-05T18:50:29Z</dcterms:modified>
</cp:coreProperties>
</file>