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Encode Sans Semi Condensed SemiBold"/>
      <p:regular r:id="rId13"/>
    </p:embeddedFont>
    <p:embeddedFont>
      <p:font typeface="Fira Sans" panose="020B0503050000020004" pitchFamily="34" charset="0"/>
      <p:regular r:id="rId14"/>
    </p:embeddedFont>
    <p:embeddedFont>
      <p:font typeface="Overpass Mono Medium" panose="020B0604020202020204" charset="-94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3258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Açılışta şunu vurgulayın: algoritma seçimi, problemin türü netleşmeden anlamlı değildir. Bu derste önce problem ailelerini, sonra her birinin yaklaşımlarını ve zorluklarını ele alacağız.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Soruları yukarıdan aşağıya sorun: hedef etiketli mi, çıktı kategorik mi, sıralı karar ve ödül var mı. Aynı veri bu üç yanıtla farklı bir problem olur.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Noktalar iki sınıfı temsil ediyor. Model, bu iki bölgeyi ayıran sınırı öğrenir ve sınırın yeni noktaları doğru tarafa koymasını bekler.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Yaklaşımı veri türü belirler. Tablolarda ağaç tabanlı modeller hâlâ çok güçlü bir başlangıçtır. Accuracy tek başına yanıltabilir, bu yüzden birlikte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satır aynı soruyu sorar: bu karar kategorik mi? Finans ve siber güvenlikte karar çoğu zaman saniyeler içinde verilir.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Turuncu çizgi tahmini, bant ise belirsizliği gösterir. Karar verirken bant kadar çizginin kendisi de önemlidir.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Doğrusal model her zaman ilk adımdır. Karmaşık modele geçmeden önce neyi neden kaçırdığını görün. Metrik seçimi de iş kararına bağlıdır.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sektörde tahmin, bir kaynak kararına bağlanır: stok, vardiya, bakım ya da teslimat penceresi. Bu yüzden aralığı da gösterin.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Renkler otomatik etiket değildir. Yeşil gruplar modelin bulduğu kümelerdir, kesikli sınırlar ise tartışmalı bölgeleri gösterir. Turuncu nokta bir anomalidir.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Kümelerin tek bir doğru cevabı olmayabilir. Bu yüzden her keşfi bir iş kararına bağlayın ve sonucu ekibe gösterin.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51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51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9499" y="931877"/>
            <a:ext cx="746741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100" spc="72" dirty="0">
                <a:solidFill>
                  <a:srgbClr val="FFFFFF"/>
                </a:solidFill>
                <a:latin typeface="Overpass Mono Medium" pitchFamily="34" charset="0"/>
                <a:ea typeface="Overpass Mono Medium" pitchFamily="34" charset="-122"/>
                <a:cs typeface="Overpass Mono Medium" pitchFamily="34" charset="-120"/>
              </a:rPr>
              <a:t>MAKINE ÖĞRENMESI · PROBLEM AILELERI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9499" y="1280873"/>
            <a:ext cx="6857828" cy="1398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5400" kern="100" spc="-54" dirty="0">
                <a:solidFill>
                  <a:srgbClr val="FFFFFF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Modelleme, problemin türüyle başlar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12780" y="3786584"/>
            <a:ext cx="6857828" cy="1027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Modern makine öğrenmesi mimarisinde ilk karar algoritma değil, hedef değişkenin ve geri bildirim döngüsünün doğru tanımlanmasıdır.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538089"/>
            <a:ext cx="386070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100" spc="72" dirty="0">
                <a:solidFill>
                  <a:srgbClr val="DCE1EE"/>
                </a:solidFill>
                <a:latin typeface="Overpass Mono Medium" pitchFamily="34" charset="0"/>
                <a:ea typeface="Overpass Mono Medium" pitchFamily="34" charset="-122"/>
                <a:cs typeface="Overpass Mono Medium" pitchFamily="34" charset="-120"/>
              </a:rPr>
              <a:t>PROBLEM TANIMI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1847080"/>
            <a:ext cx="3505112" cy="80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30" dirty="0">
                <a:solidFill>
                  <a:srgbClr val="FFFFFF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Aynı veri, farklı problem tanımı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2828330"/>
            <a:ext cx="3505112" cy="2542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35280" indent="-335280" algn="l">
              <a:lnSpc>
                <a:spcPct val="118000"/>
              </a:lnSpc>
              <a:buSzPct val="100000"/>
              <a:buChar char="•"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Etiket varsa: gözetimli öğrenme</a:t>
            </a:r>
            <a:endParaRPr lang="en-US" sz="1650" dirty="0"/>
          </a:p>
          <a:p>
            <a:pPr marL="335280" indent="-335280" algn="l">
              <a:lnSpc>
                <a:spcPct val="118000"/>
              </a:lnSpc>
              <a:buSzPct val="100000"/>
              <a:buChar char="•"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Etiket yoksa: yapı keşfi ve temsil öğrenme</a:t>
            </a:r>
            <a:endParaRPr lang="en-US" sz="1650" dirty="0"/>
          </a:p>
          <a:p>
            <a:pPr marL="335280" indent="-335280" algn="l">
              <a:lnSpc>
                <a:spcPct val="118000"/>
              </a:lnSpc>
              <a:buSzPct val="100000"/>
              <a:buChar char="•"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Sıralı karar ve ödül varsa: pekiştirmeli öğrenme</a:t>
            </a:r>
            <a:endParaRPr lang="en-US" sz="1650" dirty="0"/>
          </a:p>
          <a:p>
            <a:pPr marL="335280" indent="-335280" algn="l">
              <a:lnSpc>
                <a:spcPct val="118000"/>
              </a:lnSpc>
              <a:buSzPct val="100000"/>
              <a:buChar char="•"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Modelleme seçimi; hedef, veri, hata maliyeti ve üretim kısıtlarıyla birlikte yapılır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8330892" y="1803400"/>
            <a:ext cx="12501" cy="375047"/>
          </a:xfrm>
          <a:prstGeom prst="line">
            <a:avLst/>
          </a:prstGeom>
          <a:solidFill>
            <a:srgbClr val="00978D"/>
          </a:solidFill>
          <a:ln w="25400">
            <a:solidFill>
              <a:srgbClr val="6E7A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80331" y="2178546"/>
            <a:ext cx="3301024" cy="1191"/>
          </a:xfrm>
          <a:prstGeom prst="line">
            <a:avLst/>
          </a:prstGeom>
          <a:solidFill>
            <a:srgbClr val="00978D"/>
          </a:solidFill>
          <a:ln w="25400">
            <a:solidFill>
              <a:srgbClr val="6E7A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80331" y="2178546"/>
            <a:ext cx="12501" cy="500162"/>
          </a:xfrm>
          <a:prstGeom prst="line">
            <a:avLst/>
          </a:prstGeom>
          <a:solidFill>
            <a:srgbClr val="00978D"/>
          </a:solidFill>
          <a:ln w="25400">
            <a:solidFill>
              <a:srgbClr val="6E7A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81454" y="2178546"/>
            <a:ext cx="12501" cy="500162"/>
          </a:xfrm>
          <a:prstGeom prst="line">
            <a:avLst/>
          </a:prstGeom>
          <a:solidFill>
            <a:srgbClr val="00978D"/>
          </a:solidFill>
          <a:ln w="25400">
            <a:solidFill>
              <a:srgbClr val="6E7A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80331" y="3303885"/>
            <a:ext cx="12501" cy="375047"/>
          </a:xfrm>
          <a:prstGeom prst="line">
            <a:avLst/>
          </a:prstGeom>
          <a:solidFill>
            <a:srgbClr val="00978D"/>
          </a:solidFill>
          <a:ln w="25400">
            <a:solidFill>
              <a:srgbClr val="6E7A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81454" y="3303885"/>
            <a:ext cx="12501" cy="375047"/>
          </a:xfrm>
          <a:prstGeom prst="line">
            <a:avLst/>
          </a:prstGeom>
          <a:solidFill>
            <a:srgbClr val="00978D"/>
          </a:solidFill>
          <a:ln w="25400">
            <a:solidFill>
              <a:srgbClr val="6E7AA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5050" y="3679031"/>
            <a:ext cx="1650463" cy="1191"/>
          </a:xfrm>
          <a:prstGeom prst="line">
            <a:avLst/>
          </a:prstGeom>
          <a:solidFill>
            <a:srgbClr val="00978D"/>
          </a:solidFill>
          <a:ln w="25400">
            <a:solidFill>
              <a:srgbClr val="6E7A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55050" y="3679031"/>
            <a:ext cx="12501" cy="625177"/>
          </a:xfrm>
          <a:prstGeom prst="line">
            <a:avLst/>
          </a:prstGeom>
          <a:solidFill>
            <a:srgbClr val="00978D"/>
          </a:solidFill>
          <a:ln w="25400">
            <a:solidFill>
              <a:srgbClr val="6E7A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05611" y="3679031"/>
            <a:ext cx="12501" cy="625177"/>
          </a:xfrm>
          <a:prstGeom prst="line">
            <a:avLst/>
          </a:prstGeom>
          <a:solidFill>
            <a:srgbClr val="00978D"/>
          </a:solidFill>
          <a:ln w="25400">
            <a:solidFill>
              <a:srgbClr val="6E7A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56173" y="3679031"/>
            <a:ext cx="1650463" cy="1191"/>
          </a:xfrm>
          <a:prstGeom prst="line">
            <a:avLst/>
          </a:prstGeom>
          <a:solidFill>
            <a:srgbClr val="00978D"/>
          </a:solidFill>
          <a:ln w="25400">
            <a:solidFill>
              <a:srgbClr val="6E7AA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56173" y="3679031"/>
            <a:ext cx="12501" cy="625177"/>
          </a:xfrm>
          <a:prstGeom prst="line">
            <a:avLst/>
          </a:prstGeom>
          <a:solidFill>
            <a:srgbClr val="00978D"/>
          </a:solidFill>
          <a:ln w="25400">
            <a:solidFill>
              <a:srgbClr val="6E7AA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806735" y="3679031"/>
            <a:ext cx="12501" cy="625177"/>
          </a:xfrm>
          <a:prstGeom prst="line">
            <a:avLst/>
          </a:prstGeom>
          <a:solidFill>
            <a:srgbClr val="00978D"/>
          </a:solidFill>
          <a:ln w="25400">
            <a:solidFill>
              <a:srgbClr val="6E7A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05482" y="1178223"/>
            <a:ext cx="2250721" cy="625177"/>
          </a:xfrm>
          <a:prstGeom prst="roundRect">
            <a:avLst>
              <a:gd name="adj" fmla="val 5400"/>
            </a:avLst>
          </a:prstGeom>
          <a:solidFill>
            <a:srgbClr val="0E1D45"/>
          </a:solidFill>
          <a:ln/>
        </p:spPr>
      </p:sp>
      <p:sp>
        <p:nvSpPr>
          <p:cNvPr id="18" name="Text 16"/>
          <p:cNvSpPr/>
          <p:nvPr/>
        </p:nvSpPr>
        <p:spPr>
          <a:xfrm>
            <a:off x="6956945" y="1360091"/>
            <a:ext cx="2747795" cy="261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4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Hedef etiketli mi?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680032" y="2678708"/>
            <a:ext cx="2000597" cy="625177"/>
          </a:xfrm>
          <a:prstGeom prst="roundRect">
            <a:avLst>
              <a:gd name="adj" fmla="val 5400"/>
            </a:avLst>
          </a:prstGeom>
          <a:solidFill>
            <a:srgbClr val="0E1D45"/>
          </a:solidFill>
          <a:ln/>
        </p:spPr>
      </p:sp>
      <p:sp>
        <p:nvSpPr>
          <p:cNvPr id="20" name="Text 18"/>
          <p:cNvSpPr/>
          <p:nvPr/>
        </p:nvSpPr>
        <p:spPr>
          <a:xfrm>
            <a:off x="5431495" y="2860576"/>
            <a:ext cx="2497670" cy="261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4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Çıktı kategorik mi?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8981156" y="2678708"/>
            <a:ext cx="2000597" cy="625177"/>
          </a:xfrm>
          <a:prstGeom prst="roundRect">
            <a:avLst>
              <a:gd name="adj" fmla="val 5400"/>
            </a:avLst>
          </a:prstGeom>
          <a:solidFill>
            <a:srgbClr val="0E1D45"/>
          </a:solidFill>
          <a:ln/>
        </p:spPr>
      </p:sp>
      <p:sp>
        <p:nvSpPr>
          <p:cNvPr id="22" name="Text 20"/>
          <p:cNvSpPr/>
          <p:nvPr/>
        </p:nvSpPr>
        <p:spPr>
          <a:xfrm>
            <a:off x="9037411" y="2729805"/>
            <a:ext cx="1888086" cy="522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4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Sıralı karar ve ödül var mı?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5079873" y="4304308"/>
            <a:ext cx="1550453" cy="1125339"/>
          </a:xfrm>
          <a:prstGeom prst="roundRect">
            <a:avLst>
              <a:gd name="adj" fmla="val 3000"/>
            </a:avLst>
          </a:prstGeom>
          <a:solidFill>
            <a:srgbClr val="5B21B6"/>
          </a:solidFill>
          <a:ln/>
        </p:spPr>
      </p:sp>
      <p:sp>
        <p:nvSpPr>
          <p:cNvPr id="24" name="Text 22"/>
          <p:cNvSpPr/>
          <p:nvPr/>
        </p:nvSpPr>
        <p:spPr>
          <a:xfrm>
            <a:off x="4825879" y="4442916"/>
            <a:ext cx="2058440" cy="261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Evet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130672" y="5059958"/>
            <a:ext cx="1448855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Sınıflandırma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730336" y="4304308"/>
            <a:ext cx="1550453" cy="1125339"/>
          </a:xfrm>
          <a:prstGeom prst="roundRect">
            <a:avLst>
              <a:gd name="adj" fmla="val 3000"/>
            </a:avLst>
          </a:prstGeom>
          <a:solidFill>
            <a:srgbClr val="C2410C"/>
          </a:solidFill>
          <a:ln/>
        </p:spPr>
      </p:sp>
      <p:sp>
        <p:nvSpPr>
          <p:cNvPr id="27" name="Text 25"/>
          <p:cNvSpPr/>
          <p:nvPr/>
        </p:nvSpPr>
        <p:spPr>
          <a:xfrm>
            <a:off x="6476342" y="4442916"/>
            <a:ext cx="2058440" cy="261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Hayır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781134" y="5059958"/>
            <a:ext cx="1448855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Regresyon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380897" y="4304308"/>
            <a:ext cx="1550453" cy="1125339"/>
          </a:xfrm>
          <a:prstGeom prst="roundRect">
            <a:avLst>
              <a:gd name="adj" fmla="val 3000"/>
            </a:avLst>
          </a:prstGeom>
          <a:solidFill>
            <a:srgbClr val="1D4ED8"/>
          </a:solidFill>
          <a:ln/>
        </p:spPr>
      </p:sp>
      <p:sp>
        <p:nvSpPr>
          <p:cNvPr id="30" name="Text 28"/>
          <p:cNvSpPr/>
          <p:nvPr/>
        </p:nvSpPr>
        <p:spPr>
          <a:xfrm>
            <a:off x="8126904" y="4327426"/>
            <a:ext cx="2058440" cy="261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Evet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8431696" y="4944467"/>
            <a:ext cx="1448855" cy="46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Pekiştirmeli öğrenme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0031459" y="4304308"/>
            <a:ext cx="1550453" cy="1125339"/>
          </a:xfrm>
          <a:prstGeom prst="roundRect">
            <a:avLst>
              <a:gd name="adj" fmla="val 3000"/>
            </a:avLst>
          </a:prstGeom>
          <a:solidFill>
            <a:srgbClr val="047857"/>
          </a:solidFill>
          <a:ln/>
        </p:spPr>
      </p:sp>
      <p:sp>
        <p:nvSpPr>
          <p:cNvPr id="33" name="Text 31"/>
          <p:cNvSpPr/>
          <p:nvPr/>
        </p:nvSpPr>
        <p:spPr>
          <a:xfrm>
            <a:off x="9777466" y="4327426"/>
            <a:ext cx="2058440" cy="261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Hayır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10082258" y="4944467"/>
            <a:ext cx="1448855" cy="46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Gözetimsiz öğrenme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295598"/>
            <a:ext cx="420617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100" spc="72" dirty="0">
                <a:solidFill>
                  <a:srgbClr val="A78BFA"/>
                </a:solidFill>
                <a:latin typeface="Overpass Mono Medium" pitchFamily="34" charset="0"/>
                <a:ea typeface="Overpass Mono Medium" pitchFamily="34" charset="-122"/>
                <a:cs typeface="Overpass Mono Medium" pitchFamily="34" charset="-120"/>
              </a:rPr>
              <a:t>SINIFLANDIRMA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1604589"/>
            <a:ext cx="4206174" cy="80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30" dirty="0">
                <a:solidFill>
                  <a:srgbClr val="FFFFFF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Sınıflandırma: bir sınıf seçmek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2585839"/>
            <a:ext cx="4206174" cy="2244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35280" indent="-335280" algn="l">
              <a:lnSpc>
                <a:spcPct val="118000"/>
              </a:lnSpc>
              <a:buSzPct val="100000"/>
              <a:buChar char="•"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Girdi x'ten kategorik bir çıktı y tahmin edilir</a:t>
            </a:r>
            <a:endParaRPr lang="en-US" sz="1650" dirty="0"/>
          </a:p>
          <a:p>
            <a:pPr marL="335280" indent="-335280" algn="l">
              <a:lnSpc>
                <a:spcPct val="118000"/>
              </a:lnSpc>
              <a:buSzPct val="100000"/>
              <a:buChar char="•"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İkili, çok sınıflı veya çok etiketli olabilir</a:t>
            </a:r>
            <a:endParaRPr lang="en-US" sz="1650" dirty="0"/>
          </a:p>
          <a:p>
            <a:pPr marL="335280" indent="-335280" algn="l">
              <a:lnSpc>
                <a:spcPct val="118000"/>
              </a:lnSpc>
              <a:buSzPct val="100000"/>
              <a:buChar char="•"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Örnek: işlem sahte mi, görüntüde hangi nesne var, müşteri ayrılacak mı?</a:t>
            </a:r>
            <a:endParaRPr lang="en-US" sz="1650" dirty="0"/>
          </a:p>
          <a:p>
            <a:pPr marL="335280" indent="-335280" algn="l">
              <a:lnSpc>
                <a:spcPct val="118000"/>
              </a:lnSpc>
              <a:buSzPct val="100000"/>
              <a:buChar char="•"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Çıktı yalnızca etiket değil, çoğu zaman sınıf olasılıklarıdır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09585" y="5017988"/>
            <a:ext cx="4206174" cy="595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Temel amaç: karar sınırlarını öğrenmek ve yeni örneklere genellemektir.</a:t>
            </a:r>
            <a:endParaRPr lang="en-US" sz="16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641" y="1523702"/>
            <a:ext cx="6004469" cy="38105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823244"/>
            <a:ext cx="670543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100" spc="72" dirty="0">
                <a:solidFill>
                  <a:srgbClr val="A78BFA"/>
                </a:solidFill>
                <a:latin typeface="Overpass Mono Medium" pitchFamily="34" charset="0"/>
                <a:ea typeface="Overpass Mono Medium" pitchFamily="34" charset="-122"/>
                <a:cs typeface="Overpass Mono Medium" pitchFamily="34" charset="-120"/>
              </a:rPr>
              <a:t>SINIFLANDIRMA · YAKLAŞIM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2132235"/>
            <a:ext cx="6375241" cy="80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30" dirty="0">
                <a:solidFill>
                  <a:srgbClr val="FFFFFF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Sınıflandırmada yaklaşım seçimi ve zorluklar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3034109"/>
          <a:ext cx="6375241" cy="914400"/>
        </p:xfrm>
        <a:graphic>
          <a:graphicData uri="http://schemas.openxmlformats.org/drawingml/2006/table">
            <a:tbl>
              <a:tblPr/>
              <a:tblGrid>
                <a:gridCol w="20399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52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77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kern="100" spc="99" dirty="0">
                          <a:solidFill>
                            <a:srgbClr val="FFFFFF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VERI TÜRÜ</a:t>
                      </a:r>
                      <a:endParaRPr lang="en-US" sz="16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kern="100" spc="99" dirty="0">
                          <a:solidFill>
                            <a:srgbClr val="FFFFFF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YAKLAŞIMLAR</a:t>
                      </a:r>
                      <a:endParaRPr lang="en-US" sz="16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30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C9CFE0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Tablolu veri</a:t>
                      </a:r>
                      <a:endParaRPr lang="en-US" sz="14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C9CFE0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Lojistik regresyon, karar ağaçları, random forest, gradient boosting</a:t>
                      </a:r>
                      <a:endParaRPr lang="en-US" sz="14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C9CFE0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Görüntü</a:t>
                      </a:r>
                      <a:endParaRPr lang="en-US" sz="14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C9CFE0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CNN ve görsel transformer</a:t>
                      </a:r>
                      <a:endParaRPr lang="en-US" sz="14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C9CFE0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Metin</a:t>
                      </a:r>
                      <a:endParaRPr lang="en-US" sz="14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C9CFE0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Transformer tabanlı sınıflandırıcılar</a:t>
                      </a:r>
                      <a:endParaRPr lang="en-US" sz="14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7645209" y="1723707"/>
            <a:ext cx="4038499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Zorluklar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645209" y="2152253"/>
            <a:ext cx="4038499" cy="1352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35280" indent="-335280" algn="l">
              <a:lnSpc>
                <a:spcPct val="118000"/>
              </a:lnSpc>
              <a:buSzPct val="100000"/>
              <a:buChar char="•"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Sınıf dengesizliği</a:t>
            </a:r>
            <a:endParaRPr lang="en-US" sz="1650" dirty="0"/>
          </a:p>
          <a:p>
            <a:pPr marL="335280" indent="-335280" algn="l">
              <a:lnSpc>
                <a:spcPct val="118000"/>
              </a:lnSpc>
              <a:buSzPct val="100000"/>
              <a:buChar char="•"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Etiket gürültüsü</a:t>
            </a:r>
            <a:endParaRPr lang="en-US" sz="1650" dirty="0"/>
          </a:p>
          <a:p>
            <a:pPr marL="335280" indent="-335280" algn="l">
              <a:lnSpc>
                <a:spcPct val="118000"/>
              </a:lnSpc>
              <a:buSzPct val="100000"/>
              <a:buChar char="•"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Veri sızıntısı</a:t>
            </a:r>
            <a:endParaRPr lang="en-US" sz="1650" dirty="0"/>
          </a:p>
          <a:p>
            <a:pPr marL="335280" indent="-335280" algn="l">
              <a:lnSpc>
                <a:spcPct val="118000"/>
              </a:lnSpc>
              <a:buSzPct val="100000"/>
              <a:buChar char="•"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Dağılım kayması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7645209" y="3691731"/>
            <a:ext cx="4038499" cy="1494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spcAft>
                <a:spcPts val="1450"/>
              </a:spcAft>
              <a:buNone/>
            </a:pPr>
            <a:r>
              <a:rPr lang="en-US" sz="14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Başarı yalnızca accuracy değildir: precision, recall, F1, ROC/PR-AUC ve iş maliyeti birlikte izlenir.</a:t>
            </a:r>
            <a:endParaRPr lang="en-US" sz="14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4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Üretimde eşik seçimi, yanlış pozitif–yanlış negatif dengesini belirler.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100" spc="72" dirty="0">
                <a:solidFill>
                  <a:srgbClr val="A78BFA"/>
                </a:solidFill>
                <a:latin typeface="Overpass Mono Medium" pitchFamily="34" charset="0"/>
                <a:ea typeface="Overpass Mono Medium" pitchFamily="34" charset="-122"/>
                <a:cs typeface="Overpass Mono Medium" pitchFamily="34" charset="-120"/>
              </a:rPr>
              <a:t>SINIFLANDIRMA · SEKTÖR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8591"/>
            <a:ext cx="11023324" cy="403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30" dirty="0">
                <a:solidFill>
                  <a:srgbClr val="FFFFFF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Sektörde sınıflandırmanın en yaygın yüzleri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1954709"/>
            <a:ext cx="2539936" cy="254000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88752" y="1496020"/>
          <a:ext cx="7044157" cy="914400"/>
        </p:xfrm>
        <a:graphic>
          <a:graphicData uri="http://schemas.openxmlformats.org/drawingml/2006/table">
            <a:tbl>
              <a:tblPr/>
              <a:tblGrid>
                <a:gridCol w="23949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49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77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kern="100" spc="99" dirty="0">
                          <a:solidFill>
                            <a:srgbClr val="FFFFFF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SEKTÖR</a:t>
                      </a:r>
                      <a:endParaRPr lang="en-US" sz="16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kern="100" spc="99" dirty="0">
                          <a:solidFill>
                            <a:srgbClr val="FFFFFF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SINIFLANDIRILAN KARAR</a:t>
                      </a:r>
                      <a:endParaRPr lang="en-US" sz="16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C9CFE0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Finans</a:t>
                      </a:r>
                      <a:endParaRPr lang="en-US" sz="14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C9CFE0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Kredi riski, sahtekârlık ve temerrüt tahmini</a:t>
                      </a:r>
                      <a:endParaRPr lang="en-US" sz="14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30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C9CFE0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Sağlık</a:t>
                      </a:r>
                      <a:endParaRPr lang="en-US" sz="14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C9CFE0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Tanı desteği, risk katmanlama ve görüntü bulgusu sınıflama</a:t>
                      </a:r>
                      <a:endParaRPr lang="en-US" sz="14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30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C9CFE0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Perakende</a:t>
                      </a:r>
                      <a:endParaRPr lang="en-US" sz="14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C9CFE0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Müşteri terk olasılığı, talep segmenti ve içerik moderasyonu</a:t>
                      </a:r>
                      <a:endParaRPr lang="en-US" sz="14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30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C9CFE0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Siber güvenlik</a:t>
                      </a:r>
                      <a:endParaRPr lang="en-US" sz="14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C9CFE0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Zararlı yazılım, saldırı veya olağandışı oturum sınıflaması</a:t>
                      </a:r>
                      <a:endParaRPr lang="en-US" sz="14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C9CFE0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Üretim</a:t>
                      </a:r>
                      <a:endParaRPr lang="en-US" sz="14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C9CFE0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Kusurlu/kusursuz ürün ve arıza türü sınıflaması</a:t>
                      </a:r>
                      <a:endParaRPr lang="en-US" sz="14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09585" y="6037759"/>
            <a:ext cx="11582110" cy="261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Sınıflandırma, kararın insan veya süreç tarafından kategorik olarak alınabildiği her yerde görünür.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849313"/>
            <a:ext cx="426709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100" spc="72" dirty="0">
                <a:solidFill>
                  <a:srgbClr val="EB5324"/>
                </a:solidFill>
                <a:latin typeface="Overpass Mono Medium" pitchFamily="34" charset="0"/>
                <a:ea typeface="Overpass Mono Medium" pitchFamily="34" charset="-122"/>
                <a:cs typeface="Overpass Mono Medium" pitchFamily="34" charset="-120"/>
              </a:rPr>
              <a:t>REGRESYON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1158304"/>
            <a:ext cx="3962301" cy="80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30" dirty="0">
                <a:solidFill>
                  <a:srgbClr val="FFFFFF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Regresyon: bir değer tahmin etmek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2139553"/>
            <a:ext cx="3962301" cy="2839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35280" indent="-335280" algn="l">
              <a:lnSpc>
                <a:spcPct val="118000"/>
              </a:lnSpc>
              <a:buSzPct val="100000"/>
              <a:buChar char="•"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Girdi x'ten sürekli veya sıralı bir çıktı y tahmin edilir</a:t>
            </a:r>
            <a:endParaRPr lang="en-US" sz="1650" dirty="0"/>
          </a:p>
          <a:p>
            <a:pPr marL="335280" indent="-335280" algn="l">
              <a:lnSpc>
                <a:spcPct val="118000"/>
              </a:lnSpc>
              <a:buSzPct val="100000"/>
              <a:buChar char="•"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Örnek: fiyat, enerji tüketimi, teslimat süresi, sıcaklık veya yaşam süresi</a:t>
            </a:r>
            <a:endParaRPr lang="en-US" sz="1650" dirty="0"/>
          </a:p>
          <a:p>
            <a:pPr marL="335280" indent="-335280" algn="l">
              <a:lnSpc>
                <a:spcPct val="118000"/>
              </a:lnSpc>
              <a:buSzPct val="100000"/>
              <a:buChar char="•"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Çıktı tek değer, aralık ya da olasılık dağılımı olabilir</a:t>
            </a:r>
            <a:endParaRPr lang="en-US" sz="1650" dirty="0"/>
          </a:p>
          <a:p>
            <a:pPr marL="335280" indent="-335280" algn="l">
              <a:lnSpc>
                <a:spcPct val="118000"/>
              </a:lnSpc>
              <a:buSzPct val="100000"/>
              <a:buChar char="•"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Zaman serilerinde geçmiş gözlemler ve ileriye dönük ufuk ayrıca modellenir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09585" y="5166816"/>
            <a:ext cx="3962301" cy="892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Temel amaç: tahmin hatasını ve belirsizliği karar için kullanılabilir hale getirmektir.</a:t>
            </a:r>
            <a:endParaRPr lang="en-US" sz="16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263" y="1494730"/>
            <a:ext cx="6095848" cy="38685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100" spc="72" dirty="0">
                <a:solidFill>
                  <a:srgbClr val="EB5324"/>
                </a:solidFill>
                <a:latin typeface="Overpass Mono Medium" pitchFamily="34" charset="0"/>
                <a:ea typeface="Overpass Mono Medium" pitchFamily="34" charset="-122"/>
                <a:cs typeface="Overpass Mono Medium" pitchFamily="34" charset="-120"/>
              </a:rPr>
              <a:t>REGRESYON · YAKLAŞIM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8591"/>
            <a:ext cx="11023324" cy="403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30" dirty="0">
                <a:solidFill>
                  <a:srgbClr val="FFFFFF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Regresyonda yaklaşım seçimi ve zorluklar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496020"/>
          <a:ext cx="6339721" cy="914400"/>
        </p:xfrm>
        <a:graphic>
          <a:graphicData uri="http://schemas.openxmlformats.org/drawingml/2006/table">
            <a:tbl>
              <a:tblPr/>
              <a:tblGrid>
                <a:gridCol w="2535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38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77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kern="100" spc="99" dirty="0">
                          <a:solidFill>
                            <a:srgbClr val="FFFFFF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YAKLAŞIM</a:t>
                      </a:r>
                      <a:endParaRPr lang="en-US" sz="16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kern="100" spc="99" dirty="0">
                          <a:solidFill>
                            <a:srgbClr val="FFFFFF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GÜÇLÜ OLDUĞU YER</a:t>
                      </a:r>
                      <a:endParaRPr lang="en-US" sz="16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C9CFE0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Doğrusal modeller</a:t>
                      </a:r>
                      <a:endParaRPr lang="en-US" sz="14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C9CFE0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Açıklanabilir başlangıç ve güçlü baz çizgi</a:t>
                      </a:r>
                      <a:endParaRPr lang="en-US" sz="14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30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C9CFE0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Ağaç toplulukları ve boosting</a:t>
                      </a:r>
                      <a:endParaRPr lang="en-US" sz="14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C9CFE0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Tablolarda güçlü doğrusal olmayan ilişkiler</a:t>
                      </a:r>
                      <a:endParaRPr lang="en-US" sz="14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03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C9CFE0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Derin ağlar</a:t>
                      </a:r>
                      <a:endParaRPr lang="en-US" sz="14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C9CFE0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Yüksek boyutlu, çok kipli ve zaman bağımlı veriler</a:t>
                      </a:r>
                      <a:endParaRPr lang="en-US" sz="14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711188" y="1762700"/>
            <a:ext cx="3921721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Zorluklar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711188" y="2191246"/>
            <a:ext cx="3921721" cy="1352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35280" indent="-335280" algn="l">
              <a:lnSpc>
                <a:spcPct val="118000"/>
              </a:lnSpc>
              <a:buSzPct val="100000"/>
              <a:buChar char="•"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Aykırı değerler</a:t>
            </a:r>
            <a:endParaRPr lang="en-US" sz="1650" dirty="0"/>
          </a:p>
          <a:p>
            <a:pPr marL="335280" indent="-335280" algn="l">
              <a:lnSpc>
                <a:spcPct val="118000"/>
              </a:lnSpc>
              <a:buSzPct val="100000"/>
              <a:buChar char="•"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Veri sansürleme</a:t>
            </a:r>
            <a:endParaRPr lang="en-US" sz="1650" dirty="0"/>
          </a:p>
          <a:p>
            <a:pPr marL="335280" indent="-335280" algn="l">
              <a:lnSpc>
                <a:spcPct val="118000"/>
              </a:lnSpc>
              <a:buSzPct val="100000"/>
              <a:buChar char="•"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Trend kırılması</a:t>
            </a:r>
            <a:endParaRPr lang="en-US" sz="1650" dirty="0"/>
          </a:p>
          <a:p>
            <a:pPr marL="335280" indent="-335280" algn="l">
              <a:lnSpc>
                <a:spcPct val="118000"/>
              </a:lnSpc>
              <a:buSzPct val="100000"/>
              <a:buChar char="•"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Belirsizliğin yanlış kalibrasyonu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609585" y="5956598"/>
            <a:ext cx="11582110" cy="342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MAE, RMSE, MAPE veya kuantil kaybı; iş kararının hata maliyetine göre seçilir.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100" spc="72" dirty="0">
                <a:solidFill>
                  <a:srgbClr val="EB5324"/>
                </a:solidFill>
                <a:latin typeface="Overpass Mono Medium" pitchFamily="34" charset="0"/>
                <a:ea typeface="Overpass Mono Medium" pitchFamily="34" charset="-122"/>
                <a:cs typeface="Overpass Mono Medium" pitchFamily="34" charset="-120"/>
              </a:rPr>
              <a:t>REGRESYON · SEKTÖR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8591"/>
            <a:ext cx="11023324" cy="403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30" dirty="0">
                <a:solidFill>
                  <a:srgbClr val="FFFFFF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Sektörde regresyonun en yaygın yüzleri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1562596"/>
            <a:ext cx="2539936" cy="2540000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88752" y="1496020"/>
          <a:ext cx="7044157" cy="914400"/>
        </p:xfrm>
        <a:graphic>
          <a:graphicData uri="http://schemas.openxmlformats.org/drawingml/2006/table">
            <a:tbl>
              <a:tblPr/>
              <a:tblGrid>
                <a:gridCol w="23949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49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77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kern="100" spc="99" dirty="0">
                          <a:solidFill>
                            <a:srgbClr val="FFFFFF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SEKTÖR</a:t>
                      </a:r>
                      <a:endParaRPr lang="en-US" sz="16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kern="100" spc="99" dirty="0">
                          <a:solidFill>
                            <a:srgbClr val="FFFFFF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TAHMIN EDILEN DEĞER</a:t>
                      </a:r>
                      <a:endParaRPr lang="en-US" sz="16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C9CFE0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Finans</a:t>
                      </a:r>
                      <a:endParaRPr lang="en-US" sz="14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C9CFE0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Gelir, risk skoru ve portföy getirisi</a:t>
                      </a:r>
                      <a:endParaRPr lang="en-US" sz="14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C9CFE0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Perakende</a:t>
                      </a:r>
                      <a:endParaRPr lang="en-US" sz="14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C9CFE0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Satış, stok ihtiyacı ve fiyat esnekliği</a:t>
                      </a:r>
                      <a:endParaRPr lang="en-US" sz="14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C9CFE0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Enerji</a:t>
                      </a:r>
                      <a:endParaRPr lang="en-US" sz="14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C9CFE0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Yük, üretim ve tüketim</a:t>
                      </a:r>
                      <a:endParaRPr lang="en-US" sz="14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C9CFE0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Üretim ve IoT</a:t>
                      </a:r>
                      <a:endParaRPr lang="en-US" sz="14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C9CFE0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Kalan faydalı ömür, kalite ölçümü ve bakım zamanı</a:t>
                      </a:r>
                      <a:endParaRPr lang="en-US" sz="14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C9CFE0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Lojistik</a:t>
                      </a:r>
                      <a:endParaRPr lang="en-US" sz="14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C9CFE0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ETA, rota süresi ve kapasite planlama</a:t>
                      </a:r>
                      <a:endParaRPr lang="en-US" sz="14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09585" y="6037759"/>
            <a:ext cx="11582110" cy="261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Regresyon çıktısı bir planlama veya kaynak tahsisi kararına bağlanıyorsa tahmin aralığı, tek sayı kadar değerlidir.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822325"/>
            <a:ext cx="420617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100" spc="72" dirty="0">
                <a:solidFill>
                  <a:srgbClr val="00978D"/>
                </a:solidFill>
                <a:latin typeface="Overpass Mono Medium" pitchFamily="34" charset="0"/>
                <a:ea typeface="Overpass Mono Medium" pitchFamily="34" charset="-122"/>
                <a:cs typeface="Overpass Mono Medium" pitchFamily="34" charset="-120"/>
              </a:rPr>
              <a:t>GÖZETIMSIZ ÖĞRENME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1131316"/>
            <a:ext cx="4206174" cy="80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30" dirty="0">
                <a:solidFill>
                  <a:srgbClr val="FFFFFF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Gözetimsiz öğrenme: etiketsiz veride yapı keşfi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2112566"/>
            <a:ext cx="4206174" cy="289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35280" indent="-335280" algn="l">
              <a:lnSpc>
                <a:spcPct val="118000"/>
              </a:lnSpc>
              <a:buSzPct val="100000"/>
              <a:buChar char="•"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Model, önceden verilmiş hedef etiket olmadan veri içindeki örüntüleri öğrenir</a:t>
            </a:r>
            <a:endParaRPr lang="en-US" sz="1650" dirty="0"/>
          </a:p>
          <a:p>
            <a:pPr marL="335280" indent="-335280" algn="l">
              <a:lnSpc>
                <a:spcPct val="118000"/>
              </a:lnSpc>
              <a:buSzPct val="100000"/>
              <a:buChar char="•"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Kümeleme: benzer örnekleri gruplar</a:t>
            </a:r>
            <a:endParaRPr lang="en-US" sz="1650" dirty="0"/>
          </a:p>
          <a:p>
            <a:pPr marL="335280" indent="-335280" algn="l">
              <a:lnSpc>
                <a:spcPct val="118000"/>
              </a:lnSpc>
              <a:buSzPct val="100000"/>
              <a:buChar char="•"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Boyut indirgeme ve temsil öğrenme: veriyi daha anlamlı uzayda sıkıştırır</a:t>
            </a:r>
            <a:endParaRPr lang="en-US" sz="1650" dirty="0"/>
          </a:p>
          <a:p>
            <a:pPr marL="335280" indent="-335280" algn="l">
              <a:lnSpc>
                <a:spcPct val="118000"/>
              </a:lnSpc>
              <a:buSzPct val="100000"/>
              <a:buChar char="•"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Yoğunluk ve anomali tespiti: nadir veya beklenmeyen davranışı bulur</a:t>
            </a:r>
            <a:endParaRPr lang="en-US" sz="1650" dirty="0"/>
          </a:p>
          <a:p>
            <a:pPr marL="335280" indent="-335280" algn="l">
              <a:lnSpc>
                <a:spcPct val="118000"/>
              </a:lnSpc>
              <a:buSzPct val="100000"/>
              <a:buChar char="•"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Üretici modeller: veri dağılımını öğrenip yeni örnekler üretebilir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09585" y="5193804"/>
            <a:ext cx="4206174" cy="892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Gözetimsiz öğrenme; keşif, ön işleme ve etiketleme maliyetini düşürme aracı olarak kullanılır.</a:t>
            </a:r>
            <a:endParaRPr lang="en-US" sz="16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641" y="1594247"/>
            <a:ext cx="6004469" cy="366940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100" spc="72" dirty="0">
                <a:solidFill>
                  <a:srgbClr val="00978D"/>
                </a:solidFill>
                <a:latin typeface="Overpass Mono Medium" pitchFamily="34" charset="0"/>
                <a:ea typeface="Overpass Mono Medium" pitchFamily="34" charset="-122"/>
                <a:cs typeface="Overpass Mono Medium" pitchFamily="34" charset="-120"/>
              </a:rPr>
              <a:t>GÖZETIMSIZ ÖĞRENME · ZORLUKLAR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8591"/>
            <a:ext cx="11023324" cy="403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30" dirty="0">
                <a:solidFill>
                  <a:srgbClr val="FFFFFF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Gözetimsiz yaklaşımın zorlukları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1496020"/>
            <a:ext cx="2539936" cy="2540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88752" y="1765399"/>
            <a:ext cx="7044157" cy="2001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35280" indent="-335280" algn="l">
              <a:lnSpc>
                <a:spcPct val="118000"/>
              </a:lnSpc>
              <a:buSzPct val="100000"/>
              <a:buChar char="•"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“Doğru” küme veya temsil çoğu zaman tek değildir</a:t>
            </a:r>
            <a:endParaRPr lang="en-US" sz="1650" dirty="0"/>
          </a:p>
          <a:p>
            <a:pPr marL="335280" indent="-335280" algn="l">
              <a:lnSpc>
                <a:spcPct val="118000"/>
              </a:lnSpc>
              <a:buSzPct val="100000"/>
              <a:buChar char="•"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Mesafe metriği, ölçekleme ve özellik seçimi sonucu kökten değiştirir</a:t>
            </a:r>
            <a:endParaRPr lang="en-US" sz="1650" dirty="0"/>
          </a:p>
          <a:p>
            <a:pPr marL="335280" indent="-335280" algn="l">
              <a:lnSpc>
                <a:spcPct val="118000"/>
              </a:lnSpc>
              <a:buSzPct val="100000"/>
              <a:buChar char="•"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Yüksek boyutlulukta anlamsız yakınlıklar ve sahte örüntüler oluşabilir</a:t>
            </a:r>
            <a:endParaRPr lang="en-US" sz="1650" dirty="0"/>
          </a:p>
          <a:p>
            <a:pPr marL="335280" indent="-335280" algn="l">
              <a:lnSpc>
                <a:spcPct val="118000"/>
              </a:lnSpc>
              <a:buSzPct val="100000"/>
              <a:buChar char="•"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Değerlendirme, etiket olmadığı için iş hedefi ve insan incelemesiyle yapılır</a:t>
            </a:r>
            <a:endParaRPr lang="en-US" sz="1650" dirty="0"/>
          </a:p>
          <a:p>
            <a:pPr marL="335280" indent="-335280" algn="l">
              <a:lnSpc>
                <a:spcPct val="118000"/>
              </a:lnSpc>
              <a:buSzPct val="100000"/>
              <a:buChar char="•"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Üretimde anomali eşiği, veri akışı ve kavram kayması sürekli izlenir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609585" y="5956598"/>
            <a:ext cx="11582110" cy="342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Başarılı bir keşif, yalnızca güzel bir görselleştirme değil, ölçülebilir bir aksiyona dönüşmelidir.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4359</TotalTime>
  <Words>889</Words>
  <Application>Microsoft Office PowerPoint</Application>
  <PresentationFormat>Geniş ekran</PresentationFormat>
  <Paragraphs>133</Paragraphs>
  <Slides>10</Slides>
  <Notes>10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10</vt:i4>
      </vt:variant>
    </vt:vector>
  </HeadingPairs>
  <TitlesOfParts>
    <vt:vector size="15" baseType="lpstr">
      <vt:lpstr>Fira Sans</vt:lpstr>
      <vt:lpstr>Arial</vt:lpstr>
      <vt:lpstr>Overpass Mono Medium</vt:lpstr>
      <vt:lpstr>Encode Sans Semi Condensed SemiBold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Serkan Arslan</cp:lastModifiedBy>
  <cp:revision>2</cp:revision>
  <dcterms:created xsi:type="dcterms:W3CDTF">2026-10-08T17:03:09Z</dcterms:created>
  <dcterms:modified xsi:type="dcterms:W3CDTF">2026-10-12T07:40:37Z</dcterms:modified>
</cp:coreProperties>
</file>